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ITE Intelligence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Personalized study guidance from your residents' score reports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3154680"/>
            <a:ext cx="2560320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681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BD4"/>
                </a:solidFill>
              </a:rPr>
              <a:t>St. Luke's Family Medicine Residency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564"/>
                </a:solidFill>
              </a:rPr>
              <a:t>Every resident gets the same thing.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737360"/>
          </a:xfrm>
          <a:prstGeom prst="rect">
            <a:avLst/>
          </a:prstGeom>
          <a:solidFill>
            <a:srgbClr val="EBF0F7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560320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56032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564"/>
                </a:solidFill>
              </a:rPr>
              <a:t>191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013509"/>
            <a:ext cx="256032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scored exam questions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737360"/>
          </a:xfrm>
          <a:prstGeom prst="rect">
            <a:avLst/>
          </a:prstGeom>
          <a:solidFill>
            <a:srgbClr val="EBF0F7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560320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97280"/>
            <a:ext cx="256032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564"/>
                </a:solidFill>
              </a:rPr>
              <a:t>14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91840" y="2013509"/>
            <a:ext cx="256032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body system categories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560320" cy="1737360"/>
          </a:xfrm>
          <a:prstGeom prst="rect">
            <a:avLst/>
          </a:prstGeom>
          <a:solidFill>
            <a:srgbClr val="EBF0F7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560320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97280"/>
            <a:ext cx="256032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564"/>
                </a:solidFill>
              </a:rPr>
              <a:t>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17920" y="2013509"/>
            <a:ext cx="256032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blueprint domains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564"/>
                </a:solidFill>
              </a:rPr>
              <a:t>...and a single number.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5760" y="3429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A7E"/>
                </a:solidFill>
              </a:rPr>
              <a:t>The score report tells you where you've been — not where to focus next.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564"/>
                </a:solidFill>
              </a:rPr>
              <a:t>A three-layer knowledge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60120"/>
            <a:ext cx="2606040" cy="475488"/>
          </a:xfrm>
          <a:prstGeom prst="rect">
            <a:avLst/>
          </a:prstGeom>
          <a:solidFill>
            <a:srgbClr val="1B3564"/>
          </a:solidFill>
          <a:ln w="12700">
            <a:solidFill>
              <a:srgbClr val="1B35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 Bank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508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922A"/>
                </a:solidFill>
              </a:rPr>
              <a:t>2,850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386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Practice Questions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1,629 ITE (2018–2025)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+ 1,221 AAFP Board Review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96012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960120"/>
            <a:ext cx="2606040" cy="475488"/>
          </a:xfrm>
          <a:prstGeom prst="rect">
            <a:avLst/>
          </a:prstGeom>
          <a:solidFill>
            <a:srgbClr val="1B3564"/>
          </a:solidFill>
          <a:ln w="12700">
            <a:solidFill>
              <a:srgbClr val="1B35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96012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Article Library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1508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922A"/>
                </a:solidFill>
              </a:rPr>
              <a:t>1,985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386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Clinical Guidelines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404 full PDFs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linked to exam content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91072" y="96012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91072" y="960120"/>
            <a:ext cx="2606040" cy="475488"/>
          </a:xfrm>
          <a:prstGeom prst="rect">
            <a:avLst/>
          </a:prstGeom>
          <a:solidFill>
            <a:srgbClr val="1B3564"/>
          </a:solidFill>
          <a:ln w="12700">
            <a:solidFill>
              <a:srgbClr val="1B35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96012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Matching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2512" y="1508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922A"/>
                </a:solidFill>
              </a:rPr>
              <a:t>4,137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400800" y="2514600"/>
            <a:ext cx="2386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ICD-10 article tags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+ 5,284 question links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Clinical pathway maps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564"/>
                </a:solidFill>
              </a:rPr>
              <a:t>From score report to personalized study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1737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05840"/>
            <a:ext cx="1737360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170432"/>
            <a:ext cx="457200" cy="457200"/>
          </a:xfrm>
          <a:prstGeom prst="ellipse">
            <a:avLst/>
          </a:prstGeom>
          <a:solidFill>
            <a:srgbClr val="1B3564"/>
          </a:solidFill>
          <a:ln w="12700">
            <a:solidFill>
              <a:srgbClr val="1B35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564"/>
                </a:solidFill>
              </a:rPr>
              <a:t>Upload PDFs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Blueprint Performance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+ Body System PDFs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from ABFM score report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1005840"/>
            <a:ext cx="1737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31720" y="1005840"/>
            <a:ext cx="1737360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170432"/>
            <a:ext cx="457200" cy="457200"/>
          </a:xfrm>
          <a:prstGeom prst="ellipse">
            <a:avLst/>
          </a:prstGeom>
          <a:solidFill>
            <a:srgbClr val="1B3564"/>
          </a:solidFill>
          <a:ln w="12700">
            <a:solidFill>
              <a:srgbClr val="1B35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23160" y="1719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564"/>
                </a:solidFill>
              </a:rPr>
              <a:t>Parse &amp; Profile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Item-level performance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across 14 body systems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+ 5 blueprint domains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15968" y="1005840"/>
            <a:ext cx="1737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5968" y="1005840"/>
            <a:ext cx="1737360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6048" y="1170432"/>
            <a:ext cx="457200" cy="457200"/>
          </a:xfrm>
          <a:prstGeom prst="ellipse">
            <a:avLst/>
          </a:prstGeom>
          <a:solidFill>
            <a:srgbClr val="1B3564"/>
          </a:solidFill>
          <a:ln w="12700">
            <a:solidFill>
              <a:srgbClr val="1B35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07408" y="1719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564"/>
                </a:solidFill>
              </a:rPr>
              <a:t>Identify Weaknesses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07408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Priority-ranked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dimensions by gap size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× exam weight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0216" y="1005840"/>
            <a:ext cx="1737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0216" y="1005840"/>
            <a:ext cx="1737360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0296" y="1170432"/>
            <a:ext cx="457200" cy="457200"/>
          </a:xfrm>
          <a:prstGeom prst="ellipse">
            <a:avLst/>
          </a:prstGeom>
          <a:solidFill>
            <a:srgbClr val="1B3564"/>
          </a:solidFill>
          <a:ln w="12700">
            <a:solidFill>
              <a:srgbClr val="1B35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0296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91656" y="1719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564"/>
                </a:solidFill>
              </a:rPr>
              <a:t>Match &amp; Deliver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91656" y="2103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Targeted questions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from ITE + AAFP banks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</a:rPr>
              <a:t>+ top guideline articles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40280" y="1828800"/>
            <a:ext cx="201168" cy="7315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24528" y="1828800"/>
            <a:ext cx="201168" cy="7315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8776" y="1828800"/>
            <a:ext cx="201168" cy="7315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063240"/>
            <a:ext cx="8430768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154680"/>
            <a:ext cx="8430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A7E"/>
                </a:solidFill>
              </a:rPr>
              <a:t>Both deliverables generated in under 30 seconds.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564"/>
                </a:solidFill>
              </a:rPr>
              <a:t>Live example: Oceana Hopkins, M.D. — 2025 ITE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932688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32688"/>
            <a:ext cx="4023360" cy="475488"/>
          </a:xfrm>
          <a:prstGeom prst="rect">
            <a:avLst/>
          </a:prstGeom>
          <a:solidFill>
            <a:srgbClr val="1B3564"/>
          </a:solidFill>
          <a:ln w="12700">
            <a:solidFill>
              <a:srgbClr val="1B35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Score Report — What She Received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712464" cy="658368"/>
          </a:xfrm>
          <a:prstGeom prst="rect">
            <a:avLst/>
          </a:prstGeom>
          <a:solidFill>
            <a:srgbClr val="EBF0F7"/>
          </a:solidFill>
          <a:ln w="12700">
            <a:solidFill>
              <a:srgbClr val="2E5F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564"/>
                </a:solidFill>
              </a:rPr>
              <a:t>65.4%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20240" y="15087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Overall  •  125/191  •  PGY2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564"/>
                </a:solidFill>
              </a:rPr>
              <a:t>Weak areas identified: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Acute Care  55.9%  (38/68)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Emergent/Urgent  61.1%  (22/36)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Injuries/Musculoskeletal  54.5%  (12/22)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Respiratory  50.0%  (4/8)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</a:rPr>
              <a:t>+ 3 additional dimensions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932688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32688"/>
            <a:ext cx="4114800" cy="47548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932688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 Output — What She Gets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564"/>
                </a:solidFill>
              </a:rPr>
              <a:t>20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73168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7E"/>
                </a:solidFill>
              </a:rPr>
              <a:t>targeted practice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A7E"/>
                </a:solidFill>
              </a:rPr>
              <a:t>questions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71616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564"/>
                </a:solidFill>
              </a:rPr>
              <a:t>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071616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7E"/>
                </a:solidFill>
              </a:rPr>
              <a:t>weak dimensions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A7E"/>
                </a:solidFill>
              </a:rPr>
              <a:t>addressed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70064" y="1536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564"/>
                </a:solidFill>
              </a:rPr>
              <a:t>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370064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7E"/>
                </a:solidFill>
              </a:rPr>
              <a:t>top guideline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A7E"/>
                </a:solidFill>
              </a:rPr>
              <a:t>articles surfaced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73168" y="2743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564"/>
                </a:solidFill>
              </a:rPr>
              <a:t>Questions by dimension: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3063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Acute Care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56832" y="3090672"/>
            <a:ext cx="1828800" cy="164592"/>
          </a:xfrm>
          <a:prstGeom prst="rect">
            <a:avLst/>
          </a:prstGeom>
          <a:solidFill>
            <a:srgbClr val="2E5F9C"/>
          </a:solidFill>
          <a:ln w="12700">
            <a:solidFill>
              <a:srgbClr val="2E5F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31352" y="30632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564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319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Injuries / MSK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56832" y="3346704"/>
            <a:ext cx="1828800" cy="164592"/>
          </a:xfrm>
          <a:prstGeom prst="rect">
            <a:avLst/>
          </a:prstGeom>
          <a:solidFill>
            <a:srgbClr val="2E5F9C"/>
          </a:solidFill>
          <a:ln w="12700">
            <a:solidFill>
              <a:srgbClr val="2E5F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31352" y="33192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564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35753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Emergent/Urgent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56832" y="3602736"/>
            <a:ext cx="1828800" cy="164592"/>
          </a:xfrm>
          <a:prstGeom prst="rect">
            <a:avLst/>
          </a:prstGeom>
          <a:solidFill>
            <a:srgbClr val="2E5F9C"/>
          </a:solidFill>
          <a:ln w="12700">
            <a:solidFill>
              <a:srgbClr val="2E5F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31352" y="35753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564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73168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Respiratory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56832" y="3858768"/>
            <a:ext cx="1828800" cy="164592"/>
          </a:xfrm>
          <a:prstGeom prst="rect">
            <a:avLst/>
          </a:prstGeom>
          <a:solidFill>
            <a:srgbClr val="2E5F9C"/>
          </a:solidFill>
          <a:ln w="12700">
            <a:solidFill>
              <a:srgbClr val="2E5F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31352" y="38313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564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73168" y="40873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Cross-tab dims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56832" y="4114800"/>
            <a:ext cx="1828800" cy="164592"/>
          </a:xfrm>
          <a:prstGeom prst="rect">
            <a:avLst/>
          </a:prstGeom>
          <a:solidFill>
            <a:srgbClr val="2E5F9C"/>
          </a:solidFill>
          <a:ln w="12700">
            <a:solidFill>
              <a:srgbClr val="2E5F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31352" y="40873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564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73168" y="4343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Sexual/Repro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56832" y="4370832"/>
            <a:ext cx="1219200" cy="164592"/>
          </a:xfrm>
          <a:prstGeom prst="rect">
            <a:avLst/>
          </a:prstGeom>
          <a:solidFill>
            <a:srgbClr val="2E5F9C"/>
          </a:solidFill>
          <a:ln w="12700">
            <a:solidFill>
              <a:srgbClr val="2E5F9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21752" y="43434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564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564"/>
                </a:solidFill>
              </a:rPr>
              <a:t>Two deliverables — generated automatically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60120"/>
            <a:ext cx="4023360" cy="502920"/>
          </a:xfrm>
          <a:prstGeom prst="rect">
            <a:avLst/>
          </a:prstGeom>
          <a:solidFill>
            <a:srgbClr val="1B3564"/>
          </a:solidFill>
          <a:ln w="12700">
            <a:solidFill>
              <a:srgbClr val="1B35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601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 Report  (.docx)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" y="1554480"/>
            <a:ext cx="3749040" cy="3035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Overall scaled score + pass probability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Blueprint &amp; body system performance breakdown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Relative weakness classification (vs. personal mean)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ICD-10 weakness map — codes driving missed questions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Clinical pathway gaps — where knowledge breaks down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20 targeted practice questions with explanations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Top 5 linked guideline articles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502920"/>
          </a:xfrm>
          <a:prstGeom prst="rect">
            <a:avLst/>
          </a:prstGeom>
          <a:solidFill>
            <a:srgbClr val="2E5F9C"/>
          </a:solidFill>
          <a:ln w="12700">
            <a:solidFill>
              <a:srgbClr val="2E5F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601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Practice Exam  (.docx)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554480"/>
            <a:ext cx="3840480" cy="3035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Clean exam format — stem + 5 choices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Sorted by priority dimension (weakest first)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Dual bank: ITE questions + AAFP Board Review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Cover answer while reading choices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Correct answer + explanation on flip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3 questions max per dimension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1A2E"/>
                </a:solidFill>
              </a:rPr>
              <a:t>(no single topic monopoly)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A52"/>
          </a:solidFill>
          <a:ln w="12700">
            <a:solidFill>
              <a:srgbClr val="162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foundation is set.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22A"/>
                </a:solidFill>
              </a:rPr>
              <a:t>LIVE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74520" y="1234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Personalized question matching — both ITE + AAFP banks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60020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D4"/>
                </a:solidFill>
              </a:rPr>
              <a:t>Priority-ranked by gap × exam weight. Diversity-capped across dimensions.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22A"/>
                </a:solidFill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21488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ICD-10 crosswalk — 4,137 article tags, 5,284 question links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251460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D4"/>
                </a:solidFill>
              </a:rPr>
              <a:t>Connects missed questions to clinical diagnosis codes and guideline articles.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063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22A"/>
                </a:solidFill>
              </a:rPr>
              <a:t>LIVE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30632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Clinical pathway maps — 4,020 diagnosis-to-guideline paths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74520" y="342900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D4"/>
                </a:solidFill>
              </a:rPr>
              <a:t>Where a resident's knowledge breaks down in the clinical decision chain.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22A"/>
                </a:solidFill>
              </a:rPr>
              <a:t>BUILDING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39776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PubMed currency checks — are your guidelines still current?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74520" y="434340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BD4"/>
                </a:solidFill>
              </a:rPr>
              <a:t>344 PMIDs cached. Tracks publication dates, superseded articles, citation trends.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681728"/>
            <a:ext cx="8321040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70916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BBD4"/>
                </a:solidFill>
              </a:rPr>
              <a:t>From exam prep to clinical intelligence.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Intelligence System</dc:title>
  <dc:subject>PptxGenJS Presentation</dc:subject>
  <dc:creator>St. Luke's Family Medicine Residency</dc:creator>
  <cp:lastModifiedBy>St. Luke's Family Medicine Residency</cp:lastModifiedBy>
  <cp:revision>1</cp:revision>
  <dcterms:created xsi:type="dcterms:W3CDTF">2026-04-03T03:51:00Z</dcterms:created>
  <dcterms:modified xsi:type="dcterms:W3CDTF">2026-04-03T03:51:00Z</dcterms:modified>
</cp:coreProperties>
</file>